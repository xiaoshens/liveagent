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58" r:id="rId5"/>
    <p:sldId id="259" r:id="rId6"/>
    <p:sldId id="260" r:id="rId7"/>
    <p:sldId id="266" r:id="rId8"/>
    <p:sldId id="269" r:id="rId9"/>
    <p:sldId id="261" r:id="rId10"/>
    <p:sldId id="262" r:id="rId11"/>
    <p:sldId id="272" r:id="rId12"/>
    <p:sldId id="263" r:id="rId13"/>
    <p:sldId id="270" r:id="rId14"/>
    <p:sldId id="264" r:id="rId15"/>
    <p:sldId id="271" r:id="rId16"/>
    <p:sldId id="265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5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average score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0F766E"/>
            </a:solidFill>
          </c:spPr>
          <c:invertIfNegative val="0"/>
          <c:dLbls>
            <c:delete val="1"/>
          </c:dLbls>
          <c:cat>
            <c:strRef>
              <c:f>{"conversion","baseline","concise","safety"}</c:f>
              <c:strCache>
                <c:ptCount val="4"/>
                <c:pt idx="0">
                  <c:v>conversion</c:v>
                </c:pt>
                <c:pt idx="1">
                  <c:v>baseline</c:v>
                </c:pt>
                <c:pt idx="2">
                  <c:v>concise</c:v>
                </c:pt>
                <c:pt idx="3">
                  <c:v>safety</c:v>
                </c:pt>
              </c:strCache>
            </c:strRef>
          </c:cat>
          <c:val>
            <c:numRef>
              <c:f>{80.8,78.7,76.3,63}</c:f>
              <c:numCache>
                <c:formatCode>General</c:formatCode>
                <c:ptCount val="4"/>
                <c:pt idx="0">
                  <c:v>80.8</c:v>
                </c:pt>
                <c:pt idx="1">
                  <c:v>78.7</c:v>
                </c:pt>
                <c:pt idx="2">
                  <c:v>76.3</c:v>
                </c:pt>
                <c:pt idx="3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026-4757-962D-D1999C0EEE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14f4178-8dc1-42e6-b390-191edd26919a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面向视频直播的</a:t>
            </a:r>
          </a:p>
          <a:p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AI Agent 进化机制研究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310515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从直播互动轨迹中学习，让 AI 分身持续优化留存、互动与转化策略</a:t>
            </a: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0" y="1047750"/>
            <a:ext cx="2914650" cy="3714750"/>
          </a:xfrm>
          <a:prstGeom prst="roundRect">
            <a:avLst>
              <a:gd name="adj" fmla="val 2614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553450" y="1466850"/>
            <a:ext cx="2190750" cy="342900"/>
          </a:xfrm>
          <a:prstGeom prst="roundRect">
            <a:avLst>
              <a:gd name="adj" fmla="val 22222"/>
            </a:avLst>
          </a:prstGeom>
          <a:solidFill>
            <a:srgbClr val="CCFBF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Experience Pool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553450" y="2171700"/>
            <a:ext cx="2190750" cy="34290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LLM Insights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553450" y="2876550"/>
            <a:ext cx="2190750" cy="342900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Offline Simulation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553450" y="3581400"/>
            <a:ext cx="2190750" cy="342900"/>
          </a:xfrm>
          <a:prstGeom prst="roundRect">
            <a:avLst>
              <a:gd name="adj" fmla="val 22222"/>
            </a:avLst>
          </a:prstGeom>
          <a:solidFill>
            <a:srgbClr val="FFE4E6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E123C"/>
                </a:solidFill>
              </a:defRPr>
            </a:pPr>
            <a:r>
              <a:rPr sz="1275" b="1">
                <a:solidFill>
                  <a:srgbClr val="BE123C"/>
                </a:solidFill>
              </a:rPr>
              <a:t>Prompt Optimization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58102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endParaRPr sz="1425" b="1">
              <a:solidFill>
                <a:srgbClr val="111827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面向视频直播的 AI Agent 进化机制研究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 dirty="0" err="1">
                <a:solidFill>
                  <a:srgbClr val="0F766E"/>
                </a:solidFill>
              </a:rPr>
              <a:t>项目背景</a:t>
            </a:r>
            <a:endParaRPr sz="1200" b="1" dirty="0">
              <a:solidFill>
                <a:srgbClr val="0F766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为什么直播 AI 分身需要“进化”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876300" y="19526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" y="188595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直播间用户问题高频变化，固定脚本难以覆盖真实互动。</a:t>
            </a: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876300" y="26384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257175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 dirty="0" err="1">
                <a:solidFill>
                  <a:srgbClr val="111827"/>
                </a:solidFill>
              </a:rPr>
              <a:t>商品卖点、活动规则和运营目标持续变</a:t>
            </a:r>
            <a:r>
              <a:rPr lang="zh-CN" altLang="en-US" sz="1725" b="0" dirty="0">
                <a:solidFill>
                  <a:srgbClr val="111827"/>
                </a:solidFill>
              </a:rPr>
              <a:t>化</a:t>
            </a:r>
            <a:r>
              <a:rPr sz="1725" b="0" dirty="0">
                <a:solidFill>
                  <a:srgbClr val="111827"/>
                </a:solidFill>
              </a:rPr>
              <a:t>，</a:t>
            </a:r>
            <a:r>
              <a:rPr sz="1725" b="0" dirty="0" err="1">
                <a:solidFill>
                  <a:srgbClr val="111827"/>
                </a:solidFill>
              </a:rPr>
              <a:t>策略需要快速迭</a:t>
            </a:r>
            <a:r>
              <a:rPr lang="zh-CN" altLang="en-US" sz="1725" b="0" dirty="0">
                <a:solidFill>
                  <a:srgbClr val="111827"/>
                </a:solidFill>
              </a:rPr>
              <a:t>代</a:t>
            </a:r>
            <a:r>
              <a:rPr sz="1725" b="0" dirty="0">
                <a:solidFill>
                  <a:srgbClr val="111827"/>
                </a:solidFill>
              </a:rPr>
              <a:t>。</a:t>
            </a: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3324225"/>
            <a:ext cx="95250" cy="9525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325755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 dirty="0" err="1">
                <a:solidFill>
                  <a:srgbClr val="111827"/>
                </a:solidFill>
              </a:rPr>
              <a:t>只会回答问题不够，还要提升停留、追问、点击与信任感</a:t>
            </a:r>
            <a:r>
              <a:rPr sz="1725" b="0" dirty="0">
                <a:solidFill>
                  <a:srgbClr val="111827"/>
                </a:solidFill>
              </a:rPr>
              <a:t>。</a:t>
            </a: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76300" y="4010025"/>
            <a:ext cx="95250" cy="95250"/>
          </a:xfrm>
          <a:prstGeom prst="ellipse">
            <a:avLst/>
          </a:prstGeom>
          <a:solidFill>
            <a:srgbClr val="BE123C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04900" y="394335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直接微调模型成本高、周期长，且不适合频繁业务策略更新。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572500" y="1809750"/>
            <a:ext cx="2381250" cy="295275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858250" y="21145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核心命题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858250" y="2705100"/>
            <a:ext cx="1809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如何在不改动底层模型参数的前提下，让 AI 分身从历史互动中持续学习？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面向视频直播的 AI Agent 进化机制研究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12228" y="559775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lang="zh-CN" sz="1200" b="1" dirty="0">
                <a:solidFill>
                  <a:srgbClr val="0F766E"/>
                </a:solidFill>
              </a:rPr>
              <a:t>需求分析：系统需要解决的问题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endParaRPr lang="zh-CN" altLang="en-US" sz="285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03</a:t>
            </a:r>
          </a:p>
        </p:txBody>
      </p:sp>
      <p:pic>
        <p:nvPicPr>
          <p:cNvPr id="126553047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628775"/>
            <a:ext cx="7399020" cy="414909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184515" y="1628775"/>
            <a:ext cx="3547745" cy="30283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8267065" y="1844675"/>
            <a:ext cx="95250" cy="95250"/>
          </a:xfrm>
          <a:prstGeom prst="ellipse">
            <a:avLst/>
          </a:prstGeom>
          <a:solidFill>
            <a:schemeClr val="accent2"/>
          </a:solidFill>
          <a:ln w="0">
            <a:noFill/>
            <a:prstDash val="solid"/>
          </a:ln>
        </p:spPr>
        <p:txBody>
          <a:bodyPr/>
          <a:lstStyle/>
          <a:p>
            <a:endParaRPr lang="en-US" altLang="zh-CN"/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8267744" y="3201298"/>
            <a:ext cx="95250" cy="952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US" altLang="zh-CN"/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8267065" y="4525645"/>
            <a:ext cx="95250" cy="95250"/>
          </a:xfrm>
          <a:prstGeom prst="ellipse">
            <a:avLst/>
          </a:prstGeom>
          <a:solidFill>
            <a:schemeClr val="accent4"/>
          </a:solidFill>
          <a:ln w="0">
            <a:noFill/>
            <a:prstDash val="solid"/>
          </a:ln>
        </p:spPr>
        <p:txBody>
          <a:bodyPr/>
          <a:lstStyle/>
          <a:p>
            <a:endParaRPr lang="en-US" altLang="zh-CN"/>
          </a:p>
        </p:txBody>
      </p:sp>
      <p:sp>
        <p:nvSpPr>
          <p:cNvPr id="126553048" name="补充内容3"/>
          <p:cNvSpPr txBox="1"/>
          <p:nvPr/>
        </p:nvSpPr>
        <p:spPr>
          <a:xfrm>
            <a:off x="8457434" y="5423666"/>
            <a:ext cx="3195143" cy="834259"/>
          </a:xfrm>
          <a:prstGeom prst="rect">
            <a:avLst/>
          </a:prstGeom>
          <a:noFill/>
        </p:spPr>
        <p:txBody>
          <a:bodyPr wrap="square" rtlCol="0"/>
          <a:lstStyle/>
          <a:p>
            <a:pPr marL="0"/>
            <a:r>
              <a:rPr lang="zh-CN" dirty="0">
                <a:solidFill>
                  <a:srgbClr val="333333"/>
                </a:solidFill>
              </a:rPr>
              <a:t>自动优化：通过离线评估选择更适合直播目标的提示词策略</a:t>
            </a:r>
            <a:endParaRPr lang="zh-CN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2853EEA-E85A-21FF-5914-BE8D9A9655F5}"/>
              </a:ext>
            </a:extLst>
          </p:cNvPr>
          <p:cNvSpPr>
            <a:spLocks noGrp="1"/>
          </p:cNvSpPr>
          <p:nvPr/>
        </p:nvSpPr>
        <p:spPr>
          <a:xfrm>
            <a:off x="8267065" y="5578169"/>
            <a:ext cx="95250" cy="95250"/>
          </a:xfrm>
          <a:prstGeom prst="ellipse">
            <a:avLst/>
          </a:prstGeom>
          <a:solidFill>
            <a:schemeClr val="accent4"/>
          </a:solidFill>
          <a:ln w="0">
            <a:noFill/>
            <a:prstDash val="solid"/>
          </a:ln>
        </p:spPr>
        <p:txBody>
          <a:bodyPr/>
          <a:lstStyle/>
          <a:p>
            <a:endParaRPr lang="en-US" altLang="zh-CN"/>
          </a:p>
        </p:txBody>
      </p:sp>
      <p:sp>
        <p:nvSpPr>
          <p:cNvPr id="8" name="补充内容3">
            <a:extLst>
              <a:ext uri="{FF2B5EF4-FFF2-40B4-BE49-F238E27FC236}">
                <a16:creationId xmlns:a16="http://schemas.microsoft.com/office/drawing/2014/main" id="{01CB73CA-31AB-AA6B-522D-30CEE4D0D3E8}"/>
              </a:ext>
            </a:extLst>
          </p:cNvPr>
          <p:cNvSpPr txBox="1"/>
          <p:nvPr/>
        </p:nvSpPr>
        <p:spPr>
          <a:xfrm>
            <a:off x="8537117" y="1749830"/>
            <a:ext cx="3195143" cy="940818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altLang="zh-CN" dirty="0">
                <a:solidFill>
                  <a:srgbClr val="333333"/>
                </a:solidFill>
              </a:rPr>
              <a:t>高频重复问题：价格、优惠、功效、活动、售后需要快速响应</a:t>
            </a:r>
            <a:endParaRPr lang="zh-CN" dirty="0"/>
          </a:p>
        </p:txBody>
      </p:sp>
      <p:sp>
        <p:nvSpPr>
          <p:cNvPr id="10" name="补充内容3">
            <a:extLst>
              <a:ext uri="{FF2B5EF4-FFF2-40B4-BE49-F238E27FC236}">
                <a16:creationId xmlns:a16="http://schemas.microsoft.com/office/drawing/2014/main" id="{E9D7FFB0-C51C-8624-4ACC-C561C65F5B4A}"/>
              </a:ext>
            </a:extLst>
          </p:cNvPr>
          <p:cNvSpPr txBox="1"/>
          <p:nvPr/>
        </p:nvSpPr>
        <p:spPr>
          <a:xfrm>
            <a:off x="8497615" y="3014498"/>
            <a:ext cx="3195143" cy="4300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/>
            <a:r>
              <a:rPr lang="zh-CN" dirty="0">
                <a:solidFill>
                  <a:srgbClr val="333333"/>
                </a:solidFill>
              </a:rPr>
              <a:t>场景化话术生成：根据用户问题与用户画像选择不同回复策略</a:t>
            </a:r>
            <a:endParaRPr lang="zh-CN" dirty="0"/>
          </a:p>
        </p:txBody>
      </p:sp>
      <p:sp>
        <p:nvSpPr>
          <p:cNvPr id="12" name="补充内容3">
            <a:extLst>
              <a:ext uri="{FF2B5EF4-FFF2-40B4-BE49-F238E27FC236}">
                <a16:creationId xmlns:a16="http://schemas.microsoft.com/office/drawing/2014/main" id="{B5D5B9DE-387D-432A-CC9C-7632E66825A1}"/>
              </a:ext>
            </a:extLst>
          </p:cNvPr>
          <p:cNvSpPr txBox="1"/>
          <p:nvPr/>
        </p:nvSpPr>
        <p:spPr>
          <a:xfrm>
            <a:off x="8496936" y="4344057"/>
            <a:ext cx="3195143" cy="4300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/>
            <a:r>
              <a:rPr lang="zh-CN" dirty="0">
                <a:solidFill>
                  <a:srgbClr val="333333"/>
                </a:solidFill>
              </a:rPr>
              <a:t>合规安全控制：避免虚构价格、库存、功效和平台规则</a:t>
            </a:r>
            <a:endParaRPr 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ExpeL · Reflexion · PromptAgent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相关研究带来的三点启发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905000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CCFBF1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52500" y="21526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ExpeL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7813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经验池 + 洞察库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3333750"/>
            <a:ext cx="2724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收集成功/失败轨迹，用自然语言总结可复用策略。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62450" y="1905000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DBEAFE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29150" y="21526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Reflexion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29150" y="27813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失败后自我反思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29150" y="3333750"/>
            <a:ext cx="2724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在离线仿真中识别答非所问、强推、夸大承诺等失败原因。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039100" y="1905000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FEF3C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05800" y="21526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B45309"/>
                </a:solidFill>
              </a:defRPr>
            </a:pPr>
            <a:r>
              <a:rPr sz="2325" b="1">
                <a:solidFill>
                  <a:srgbClr val="B45309"/>
                </a:solidFill>
              </a:rPr>
              <a:t>PromptAgent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05800" y="27813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提示词搜索优化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05800" y="3333750"/>
            <a:ext cx="2724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把提示词优化看作搜索问题，用评估奖励选择高分策略。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面向视频直播的 AI Agent 进化机制研究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技术路线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总体闭环：从数据到上线策略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24840" y="2238375"/>
            <a:ext cx="2026920" cy="1219200"/>
          </a:xfrm>
          <a:prstGeom prst="roundRect">
            <a:avLst>
              <a:gd name="adj" fmla="val 6250"/>
            </a:avLst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438400"/>
            <a:ext cx="16840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数据采集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800350"/>
            <a:ext cx="16840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对话日志、用户行为、商品知识、人工反馈</a:t>
            </a: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2617470" y="2705100"/>
            <a:ext cx="361950" cy="228600"/>
          </a:xfrm>
          <a:prstGeom prst="rightArrow">
            <a:avLst/>
          </a:prstGeom>
          <a:solidFill>
            <a:srgbClr val="9CA3AF"/>
          </a:solidFill>
          <a:ln w="0">
            <a:noFill/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2960370" y="2236404"/>
            <a:ext cx="2026920" cy="12192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055620" y="2438400"/>
            <a:ext cx="16840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经验沉淀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55620" y="2800350"/>
            <a:ext cx="16840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成功/失败轨迹、业务结果、风险记录</a:t>
            </a: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4815840" y="2705100"/>
            <a:ext cx="361950" cy="228600"/>
          </a:xfrm>
          <a:prstGeom prst="rightArrow">
            <a:avLst/>
          </a:prstGeom>
          <a:solidFill>
            <a:srgbClr val="9CA3AF"/>
          </a:solidFill>
          <a:ln w="0">
            <a:noFill/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158740" y="2230821"/>
            <a:ext cx="2026920" cy="121920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253990" y="2438400"/>
            <a:ext cx="16840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B45309"/>
                </a:solidFill>
              </a:defRPr>
            </a:pPr>
            <a:r>
              <a:rPr sz="1575" b="1">
                <a:solidFill>
                  <a:srgbClr val="B45309"/>
                </a:solidFill>
              </a:rPr>
              <a:t>洞察提取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53990" y="2800350"/>
            <a:ext cx="16840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LLM 对比分析，生成场景策略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014210" y="2705100"/>
            <a:ext cx="361950" cy="228600"/>
          </a:xfrm>
          <a:prstGeom prst="rightArrow">
            <a:avLst/>
          </a:prstGeom>
          <a:solidFill>
            <a:srgbClr val="9CA3AF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7328535" y="2247900"/>
            <a:ext cx="2026920" cy="1219200"/>
          </a:xfrm>
          <a:prstGeom prst="roundRect">
            <a:avLst>
              <a:gd name="adj" fmla="val 6250"/>
            </a:avLst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52360" y="2438400"/>
            <a:ext cx="16840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离线评估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52360" y="2800350"/>
            <a:ext cx="16840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虚拟用户仿真，多维自动评分</a:t>
            </a: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9212580" y="2705100"/>
            <a:ext cx="361950" cy="228600"/>
          </a:xfrm>
          <a:prstGeom prst="rightArrow">
            <a:avLst/>
          </a:prstGeom>
          <a:solidFill>
            <a:srgbClr val="9CA3AF"/>
          </a:solidFill>
          <a:ln w="0">
            <a:noFill/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9574530" y="2221296"/>
            <a:ext cx="2026920" cy="12192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650730" y="2438400"/>
            <a:ext cx="16840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上线回流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50730" y="2800350"/>
            <a:ext cx="16840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 err="1">
                <a:solidFill>
                  <a:srgbClr val="111827"/>
                </a:solidFill>
              </a:rPr>
              <a:t>人工审核发布，结果进入经验池</a:t>
            </a:r>
            <a:endParaRPr sz="1275" b="0" dirty="0">
              <a:solidFill>
                <a:srgbClr val="11182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638300" y="4381500"/>
            <a:ext cx="891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闭环价值：把每一次直播互动都转化为下一轮策略优化的训练信号。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面向视频直播的 AI Agent 进化机制研究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系统设计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原型系统模块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809750"/>
            <a:ext cx="3333750" cy="3314700"/>
          </a:xfrm>
          <a:prstGeom prst="roundRect">
            <a:avLst>
              <a:gd name="adj" fmla="val 2299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0955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输入层</a:t>
            </a: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047750" y="27527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76350" y="2686050"/>
            <a:ext cx="2247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直播对话日志</a:t>
            </a: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047750" y="32099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76350" y="3143250"/>
            <a:ext cx="2247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商品知识库</a:t>
            </a: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047750" y="36671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76350" y="3600450"/>
            <a:ext cx="2247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主播人设配置</a:t>
            </a: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047750" y="41243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76350" y="4057650"/>
            <a:ext cx="2247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人工反馈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438650" y="1809750"/>
            <a:ext cx="3333750" cy="33147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43450" y="20955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智能体层</a:t>
            </a: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4800600" y="27527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029200" y="2686050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经验池 ExperiencePool</a:t>
            </a: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800600" y="32099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29200" y="3143250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洞察提取 extract_insights</a:t>
            </a: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4800600" y="36671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029200" y="3600450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检索增强 retrieve_insights</a:t>
            </a: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4800600" y="41243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029200" y="4057650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回复生成 LiveAgent</a:t>
            </a: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191500" y="1809750"/>
            <a:ext cx="3333750" cy="3314700"/>
          </a:xfrm>
          <a:prstGeom prst="roundRect">
            <a:avLst>
              <a:gd name="adj" fmla="val 2299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496300" y="20955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评估层</a:t>
            </a: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8553450" y="27527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782050" y="2686050"/>
            <a:ext cx="2247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虚拟用户问题集</a:t>
            </a: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8553450" y="32099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782050" y="3143250"/>
            <a:ext cx="2247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离线自动评分</a:t>
            </a: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8553450" y="36671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782050" y="3600450"/>
            <a:ext cx="2247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提示策略排序</a:t>
            </a: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8553450" y="41243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782050" y="4057650"/>
            <a:ext cx="2247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人工审核发布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面向视频直播的 AI Agent 进化机制研究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39718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90" y="1336128"/>
            <a:ext cx="7586980" cy="503936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 dirty="0" err="1">
                <a:solidFill>
                  <a:srgbClr val="0F766E"/>
                </a:solidFill>
              </a:rPr>
              <a:t>概要设计：系统分层架构</a:t>
            </a:r>
            <a:endParaRPr sz="1200" b="1" dirty="0">
              <a:solidFill>
                <a:srgbClr val="0F766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endParaRPr sz="1050" b="0">
              <a:solidFill>
                <a:srgbClr val="6B728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07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328025" y="1536065"/>
            <a:ext cx="3630930" cy="4715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  <a:p>
            <a:pPr marL="285750" indent="-285750" algn="l">
              <a:lnSpc>
                <a:spcPct val="140000"/>
              </a:lnSpc>
              <a:spcBef>
                <a:spcPts val="200"/>
              </a:spcBef>
              <a:buClrTx/>
              <a:buSzTx/>
              <a:buFont typeface="Arial" panose="020B0604020202020204" pitchFamily="34" charset="0"/>
              <a:buChar char="•"/>
              <a:defRPr sz="1725" b="0">
                <a:solidFill>
                  <a:srgbClr val="111827"/>
                </a:solidFill>
              </a:defRPr>
            </a:pPr>
            <a:endParaRPr sz="1725" b="0" i="0"/>
          </a:p>
        </p:txBody>
      </p:sp>
      <p:sp>
        <p:nvSpPr>
          <p:cNvPr id="300397189" name="补充内容7"/>
          <p:cNvSpPr txBox="1"/>
          <p:nvPr/>
        </p:nvSpPr>
        <p:spPr>
          <a:xfrm>
            <a:off x="8266778" y="1450000"/>
            <a:ext cx="3867415" cy="4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>
                <a:solidFill>
                  <a:srgbClr val="333333"/>
                </a:solidFill>
              </a:rPr>
              <a:t>输入与配置层：直播评论、主播人设、商品资料、历史轨迹、合规约束</a:t>
            </a:r>
            <a:endParaRPr lang="zh-CN" dirty="0"/>
          </a:p>
          <a:p>
            <a:pPr marL="0"/>
            <a:endParaRPr lang="en-US" altLang="zh-CN" dirty="0">
              <a:solidFill>
                <a:srgbClr val="333333"/>
              </a:solidFill>
            </a:endParaRPr>
          </a:p>
          <a:p>
            <a:pPr marL="0"/>
            <a:r>
              <a:rPr lang="zh-CN" dirty="0">
                <a:solidFill>
                  <a:srgbClr val="333333"/>
                </a:solidFill>
              </a:rPr>
              <a:t>Agent 核心服务层：场景识别、经验检索、回复生成、动作选择、安全控制</a:t>
            </a:r>
            <a:endParaRPr lang="zh-CN" dirty="0"/>
          </a:p>
          <a:p>
            <a:pPr marL="0"/>
            <a:endParaRPr lang="en-US" altLang="zh-CN" dirty="0">
              <a:solidFill>
                <a:srgbClr val="333333"/>
              </a:solidFill>
            </a:endParaRPr>
          </a:p>
          <a:p>
            <a:pPr marL="0"/>
            <a:r>
              <a:rPr lang="zh-CN" dirty="0">
                <a:solidFill>
                  <a:srgbClr val="333333"/>
                </a:solidFill>
              </a:rPr>
              <a:t>经验学习与优化层：ExperiencePool、Insight、OfflineEvaluator、PromptOptimizer</a:t>
            </a:r>
            <a:endParaRPr lang="zh-CN" dirty="0"/>
          </a:p>
          <a:p>
            <a:pPr marL="0"/>
            <a:endParaRPr lang="en-US" altLang="zh-CN" dirty="0">
              <a:solidFill>
                <a:srgbClr val="333333"/>
              </a:solidFill>
            </a:endParaRPr>
          </a:p>
          <a:p>
            <a:pPr marL="0"/>
            <a:r>
              <a:rPr lang="zh-CN" dirty="0">
                <a:solidFill>
                  <a:srgbClr val="333333"/>
                </a:solidFill>
              </a:rPr>
              <a:t>输出层：scene、action、response、used_insights、similar_cases、score</a:t>
            </a:r>
            <a:endParaRPr lang="zh-CN" dirty="0"/>
          </a:p>
          <a:p>
            <a:pPr marL="0"/>
            <a:endParaRPr lang="en-US" altLang="zh-CN" dirty="0">
              <a:solidFill>
                <a:srgbClr val="333333"/>
              </a:solidFill>
            </a:endParaRPr>
          </a:p>
          <a:p>
            <a:pPr marL="0"/>
            <a:r>
              <a:rPr lang="zh-CN" dirty="0">
                <a:solidFill>
                  <a:srgbClr val="333333"/>
                </a:solidFill>
              </a:rPr>
              <a:t>架构特点：以历史经验驱动回复生成，以离线评估形成持续优化闭环</a:t>
            </a:r>
            <a:endParaRPr lang="zh-CN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4002548-AD68-24CD-8EE2-73EBE4EDDA4E}"/>
              </a:ext>
            </a:extLst>
          </p:cNvPr>
          <p:cNvSpPr>
            <a:spLocks noGrp="1"/>
          </p:cNvSpPr>
          <p:nvPr/>
        </p:nvSpPr>
        <p:spPr>
          <a:xfrm>
            <a:off x="8147772" y="1627461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EE0F8FA-9ADB-A87A-E2B7-5DC5E5BF63A3}"/>
              </a:ext>
            </a:extLst>
          </p:cNvPr>
          <p:cNvSpPr>
            <a:spLocks noGrp="1"/>
          </p:cNvSpPr>
          <p:nvPr/>
        </p:nvSpPr>
        <p:spPr>
          <a:xfrm>
            <a:off x="8154527" y="2432816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46F82DB-F508-5C5E-8287-584055BFF15D}"/>
              </a:ext>
            </a:extLst>
          </p:cNvPr>
          <p:cNvSpPr>
            <a:spLocks noGrp="1"/>
          </p:cNvSpPr>
          <p:nvPr/>
        </p:nvSpPr>
        <p:spPr>
          <a:xfrm>
            <a:off x="8147772" y="3429000"/>
            <a:ext cx="95250" cy="9525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B2737F9-658F-BC98-C736-A38D49404718}"/>
              </a:ext>
            </a:extLst>
          </p:cNvPr>
          <p:cNvSpPr>
            <a:spLocks noGrp="1"/>
          </p:cNvSpPr>
          <p:nvPr/>
        </p:nvSpPr>
        <p:spPr>
          <a:xfrm>
            <a:off x="8147772" y="4543753"/>
            <a:ext cx="95250" cy="9525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0AAD0BF-4592-BEC0-F31C-47A08945481C}"/>
              </a:ext>
            </a:extLst>
          </p:cNvPr>
          <p:cNvSpPr>
            <a:spLocks noGrp="1"/>
          </p:cNvSpPr>
          <p:nvPr/>
        </p:nvSpPr>
        <p:spPr>
          <a:xfrm>
            <a:off x="8147772" y="53721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主要功能模块设计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endParaRPr sz="285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23950" y="20478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52550" y="198120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endParaRPr sz="1800" b="0">
              <a:solidFill>
                <a:srgbClr val="111827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123950" y="269557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23950" y="3343275"/>
            <a:ext cx="95250" cy="9525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1123950" y="3990975"/>
            <a:ext cx="95250" cy="95250"/>
          </a:xfrm>
          <a:prstGeom prst="ellipse">
            <a:avLst/>
          </a:prstGeom>
          <a:solidFill>
            <a:srgbClr val="BE123C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048250" y="55245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0F766E"/>
                </a:solidFill>
              </a:defRPr>
            </a:pPr>
            <a:endParaRPr sz="3900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13</a:t>
            </a:r>
          </a:p>
        </p:txBody>
      </p:sp>
      <p:sp>
        <p:nvSpPr>
          <p:cNvPr id="1002" name="补充内容13"/>
          <p:cNvSpPr txBox="1"/>
          <p:nvPr/>
        </p:nvSpPr>
        <p:spPr>
          <a:xfrm>
            <a:off x="1458300" y="1886174"/>
            <a:ext cx="7800000" cy="481573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>
                <a:solidFill>
                  <a:srgbClr val="333333"/>
                </a:solidFill>
              </a:rPr>
              <a:t>文本处理模块：中文 token 切分、关键词匹配、相似度计算</a:t>
            </a:r>
            <a:endParaRPr 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1CA09A2-0AA1-E3B7-354C-4BFA43D90EB6}"/>
              </a:ext>
            </a:extLst>
          </p:cNvPr>
          <p:cNvSpPr txBox="1"/>
          <p:nvPr/>
        </p:nvSpPr>
        <p:spPr>
          <a:xfrm>
            <a:off x="1458300" y="5149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333333"/>
                </a:solidFill>
              </a:rPr>
              <a:t>表达评估优化模块：</a:t>
            </a:r>
            <a:r>
              <a:rPr lang="zh-CN" altLang="zh-CN" sz="1800" dirty="0">
                <a:solidFill>
                  <a:srgbClr val="333333"/>
                </a:solidFill>
              </a:rPr>
              <a:t>多维评分并选择最优 prompt_style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CB5070F-AD24-7CC0-9733-126EE45B2044}"/>
              </a:ext>
            </a:extLst>
          </p:cNvPr>
          <p:cNvSpPr txBox="1"/>
          <p:nvPr/>
        </p:nvSpPr>
        <p:spPr>
          <a:xfrm>
            <a:off x="1458301" y="45791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rgbClr val="333333"/>
                </a:solidFill>
              </a:rPr>
              <a:t>安全合规模块：约束价格、库存、功效、售后等高风险</a:t>
            </a:r>
            <a:endParaRPr lang="en-US" altLang="zh-CN" sz="1800" dirty="0">
              <a:solidFill>
                <a:srgbClr val="333333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09F280-5E8B-C3FF-3F34-D0E08315B017}"/>
              </a:ext>
            </a:extLst>
          </p:cNvPr>
          <p:cNvSpPr txBox="1"/>
          <p:nvPr/>
        </p:nvSpPr>
        <p:spPr>
          <a:xfrm>
            <a:off x="1458300" y="37233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Agent 决策模块：场景识别、经验增强、直播话术生成、动作选择</a:t>
            </a:r>
            <a:endParaRPr lang="zh-CN" altLang="zh-CN" sz="1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8958B1-CB57-0FC1-C99F-93461EA97E59}"/>
              </a:ext>
            </a:extLst>
          </p:cNvPr>
          <p:cNvSpPr txBox="1"/>
          <p:nvPr/>
        </p:nvSpPr>
        <p:spPr>
          <a:xfrm>
            <a:off x="1447800" y="30923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经验池模块：保存历史轨迹，提取经验洞察，检索成功案例</a:t>
            </a:r>
            <a:endParaRPr lang="zh-CN" altLang="zh-CN" sz="18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09EEF05-556D-D4C1-B686-D57B72A5512B}"/>
              </a:ext>
            </a:extLst>
          </p:cNvPr>
          <p:cNvSpPr txBox="1"/>
          <p:nvPr/>
        </p:nvSpPr>
        <p:spPr>
          <a:xfrm>
            <a:off x="1458311" y="2523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数据模型模块：商品、直播上下文、互动轨迹、策略洞察</a:t>
            </a:r>
            <a:endParaRPr lang="zh-CN" altLang="zh-CN" sz="1800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3134FF81-F5C5-C92F-3F65-59046296BEB1}"/>
              </a:ext>
            </a:extLst>
          </p:cNvPr>
          <p:cNvSpPr>
            <a:spLocks noGrp="1"/>
          </p:cNvSpPr>
          <p:nvPr/>
        </p:nvSpPr>
        <p:spPr>
          <a:xfrm>
            <a:off x="1123950" y="4591050"/>
            <a:ext cx="95250" cy="9525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3E49502-4BF5-5F0F-6D88-85515E789F19}"/>
              </a:ext>
            </a:extLst>
          </p:cNvPr>
          <p:cNvSpPr>
            <a:spLocks noGrp="1"/>
          </p:cNvSpPr>
          <p:nvPr/>
        </p:nvSpPr>
        <p:spPr>
          <a:xfrm>
            <a:off x="1123950" y="5211082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关键实现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 dirty="0">
                <a:solidFill>
                  <a:srgbClr val="111827"/>
                </a:solidFill>
              </a:rPr>
              <a:t>LLM </a:t>
            </a:r>
            <a:r>
              <a:rPr sz="2850" b="1" dirty="0" err="1">
                <a:solidFill>
                  <a:srgbClr val="111827"/>
                </a:solidFill>
              </a:rPr>
              <a:t>洞察提取：mode</a:t>
            </a:r>
            <a:r>
              <a:rPr sz="2850" b="1" dirty="0">
                <a:solidFill>
                  <a:srgbClr val="111827"/>
                </a:solidFill>
              </a:rPr>
              <a:t> </a:t>
            </a:r>
            <a:r>
              <a:rPr sz="2850" b="1" dirty="0" err="1">
                <a:solidFill>
                  <a:srgbClr val="111827"/>
                </a:solidFill>
              </a:rPr>
              <a:t>控制两种路径</a:t>
            </a:r>
            <a:endParaRPr sz="2850" b="1" dirty="0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828800"/>
            <a:ext cx="4905375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1336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mode='rule'</a:t>
            </a: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047750" y="28479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76350" y="2781300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不依赖外部模型</a:t>
            </a: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047750" y="33813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76350" y="3314700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适合本地演示和单元测试</a:t>
            </a: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047750" y="39147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76350" y="3848100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规则按场景生成稳定策略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610350" y="1828800"/>
            <a:ext cx="4905375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915150" y="21336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E123C"/>
                </a:solidFill>
              </a:defRPr>
            </a:pPr>
            <a:r>
              <a:rPr sz="2100" b="1">
                <a:solidFill>
                  <a:srgbClr val="BE123C"/>
                </a:solidFill>
              </a:rPr>
              <a:t>mode='llm'</a:t>
            </a: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6972300" y="28479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00900" y="2781300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构造成功/失败轨迹 Prompt</a:t>
            </a: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6972300" y="33813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00900" y="3314700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LLM 返回结构化 JSON</a:t>
            </a: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6972300" y="39147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00900" y="3848100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解析为 Insight 后进入检索库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067050" y="5429250"/>
            <a:ext cx="605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接口约定：llm_client(prompt) -&gt; JSON list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面向视频直播的 AI Agent 进化机制研究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代码结构：模块化实现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endParaRPr sz="285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48700" y="3371850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endParaRPr sz="1350" b="0">
              <a:solidFill>
                <a:srgbClr val="11182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4400" y="54673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endParaRPr sz="1500" b="1">
              <a:solidFill>
                <a:srgbClr val="11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09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627220-3A8B-97DE-AFB5-DE9A3CC75F20}"/>
              </a:ext>
            </a:extLst>
          </p:cNvPr>
          <p:cNvSpPr txBox="1"/>
          <p:nvPr/>
        </p:nvSpPr>
        <p:spPr>
          <a:xfrm>
            <a:off x="685800" y="914192"/>
            <a:ext cx="8988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333333"/>
                </a:solidFill>
              </a:rPr>
              <a:t>代码目录已由单文件原型拆分为多个职责清晰的模块</a:t>
            </a:r>
            <a:endParaRPr lang="zh-CN" altLang="zh-CN" sz="2800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6E6BCAB-7FFB-6B0C-DBB1-33A673D7C77F}"/>
              </a:ext>
            </a:extLst>
          </p:cNvPr>
          <p:cNvSpPr txBox="1"/>
          <p:nvPr/>
        </p:nvSpPr>
        <p:spPr>
          <a:xfrm>
            <a:off x="1381127" y="50201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evaluator.py / optimizer.py：离线评估与提示词策略优化</a:t>
            </a:r>
            <a:endParaRPr lang="zh-CN" altLang="zh-CN" sz="18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4B9005-66B6-DF1E-F2E6-A9B879C51D53}"/>
              </a:ext>
            </a:extLst>
          </p:cNvPr>
          <p:cNvSpPr txBox="1"/>
          <p:nvPr/>
        </p:nvSpPr>
        <p:spPr>
          <a:xfrm>
            <a:off x="1381127" y="43900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agent.py：场景识别、回复生成、动作选择</a:t>
            </a:r>
            <a:endParaRPr lang="zh-CN" altLang="zh-CN" sz="18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0F5FA06-0FC6-4989-530B-788BF989CFB7}"/>
              </a:ext>
            </a:extLst>
          </p:cNvPr>
          <p:cNvSpPr txBox="1"/>
          <p:nvPr/>
        </p:nvSpPr>
        <p:spPr>
          <a:xfrm>
            <a:off x="1381127" y="3759936"/>
            <a:ext cx="642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experience_pool.py：经验池、洞察提取、经验检索</a:t>
            </a:r>
            <a:endParaRPr lang="zh-CN" altLang="zh-CN" sz="18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0CCA150-2D91-AD3B-FA8C-6E2E86BE5CC5}"/>
              </a:ext>
            </a:extLst>
          </p:cNvPr>
          <p:cNvSpPr txBox="1"/>
          <p:nvPr/>
        </p:nvSpPr>
        <p:spPr>
          <a:xfrm>
            <a:off x="1381127" y="3144321"/>
            <a:ext cx="642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text_utils.py：文本切分与余弦相似度计算</a:t>
            </a:r>
            <a:endParaRPr lang="zh-CN" altLang="zh-CN" sz="18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81D5343-A56D-5695-C1BB-97F323DAA87A}"/>
              </a:ext>
            </a:extLst>
          </p:cNvPr>
          <p:cNvSpPr txBox="1"/>
          <p:nvPr/>
        </p:nvSpPr>
        <p:spPr>
          <a:xfrm>
            <a:off x="1363719" y="2554522"/>
            <a:ext cx="642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models.py：Product、LiveContext、Trajectory、Insight 数据模型</a:t>
            </a:r>
            <a:endParaRPr lang="zh-CN" altLang="zh-CN" sz="18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07F938E-CFC4-847B-85E7-41A6C849FDE9}"/>
              </a:ext>
            </a:extLst>
          </p:cNvPr>
          <p:cNvSpPr txBox="1"/>
          <p:nvPr/>
        </p:nvSpPr>
        <p:spPr>
          <a:xfrm>
            <a:off x="1363719" y="1923491"/>
            <a:ext cx="642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live_agent_prototype.py：主程序入口，组装运行流程</a:t>
            </a:r>
            <a:endParaRPr lang="zh-CN" altLang="zh-CN" sz="1800" dirty="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1CBD2D5-9BC6-F098-2620-A38E77290F68}"/>
              </a:ext>
            </a:extLst>
          </p:cNvPr>
          <p:cNvSpPr>
            <a:spLocks noGrp="1"/>
          </p:cNvSpPr>
          <p:nvPr/>
        </p:nvSpPr>
        <p:spPr>
          <a:xfrm>
            <a:off x="1123950" y="20478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8373F0CC-27A9-9438-1FC5-64E19D9EB58C}"/>
              </a:ext>
            </a:extLst>
          </p:cNvPr>
          <p:cNvSpPr>
            <a:spLocks noGrp="1"/>
          </p:cNvSpPr>
          <p:nvPr/>
        </p:nvSpPr>
        <p:spPr>
          <a:xfrm>
            <a:off x="1123950" y="269557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33D2BD1-C8CC-35DA-D94A-C39A861D3482}"/>
              </a:ext>
            </a:extLst>
          </p:cNvPr>
          <p:cNvSpPr>
            <a:spLocks noGrp="1"/>
          </p:cNvSpPr>
          <p:nvPr/>
        </p:nvSpPr>
        <p:spPr>
          <a:xfrm>
            <a:off x="1123950" y="3343275"/>
            <a:ext cx="95250" cy="9525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F8363208-0A6D-910F-5022-66AFDE7576F0}"/>
              </a:ext>
            </a:extLst>
          </p:cNvPr>
          <p:cNvSpPr>
            <a:spLocks noGrp="1"/>
          </p:cNvSpPr>
          <p:nvPr/>
        </p:nvSpPr>
        <p:spPr>
          <a:xfrm>
            <a:off x="1123950" y="3990975"/>
            <a:ext cx="95250" cy="95250"/>
          </a:xfrm>
          <a:prstGeom prst="ellipse">
            <a:avLst/>
          </a:prstGeom>
          <a:solidFill>
            <a:srgbClr val="BE123C"/>
          </a:solidFill>
          <a:ln w="0">
            <a:noFill/>
            <a:prstDash val="solid"/>
          </a:ln>
        </p:spPr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659A8E6D-D612-84A5-3CA0-3B35C902BC6D}"/>
              </a:ext>
            </a:extLst>
          </p:cNvPr>
          <p:cNvSpPr>
            <a:spLocks noGrp="1"/>
          </p:cNvSpPr>
          <p:nvPr/>
        </p:nvSpPr>
        <p:spPr>
          <a:xfrm>
            <a:off x="1123950" y="4591050"/>
            <a:ext cx="95250" cy="9525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8204E940-D121-40EB-3B6A-A36B2D7C02E2}"/>
              </a:ext>
            </a:extLst>
          </p:cNvPr>
          <p:cNvSpPr>
            <a:spLocks noGrp="1"/>
          </p:cNvSpPr>
          <p:nvPr/>
        </p:nvSpPr>
        <p:spPr>
          <a:xfrm>
            <a:off x="1123950" y="5211082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代码路径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原型代码如何跑通一次演示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752600"/>
            <a:ext cx="10820400" cy="342900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23950" y="2133600"/>
            <a:ext cx="6667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F9FAFB"/>
                </a:solidFill>
              </a:defRPr>
            </a:pPr>
            <a:r>
              <a:rPr sz="1800" b="0">
                <a:solidFill>
                  <a:srgbClr val="F9FAFB"/>
                </a:solidFill>
              </a:rPr>
              <a:t>insight_mode = "llm"</a:t>
            </a:r>
          </a:p>
          <a:p>
            <a:pPr algn="l">
              <a:defRPr sz="1800" b="0">
                <a:solidFill>
                  <a:srgbClr val="F9FAFB"/>
                </a:solidFill>
              </a:defRPr>
            </a:pPr>
            <a:r>
              <a:rPr sz="1800" b="0">
                <a:solidFill>
                  <a:srgbClr val="F9FAFB"/>
                </a:solidFill>
              </a:rPr>
              <a:t>insights = pool.extract_insights(</a:t>
            </a:r>
          </a:p>
          <a:p>
            <a:pPr algn="l">
              <a:defRPr sz="1800" b="0">
                <a:solidFill>
                  <a:srgbClr val="F9FAFB"/>
                </a:solidFill>
              </a:defRPr>
            </a:pPr>
            <a:r>
              <a:rPr sz="1800" b="0">
                <a:solidFill>
                  <a:srgbClr val="F9FAFB"/>
                </a:solidFill>
              </a:rPr>
              <a:t>    mode=insight_mode,</a:t>
            </a:r>
          </a:p>
          <a:p>
            <a:pPr algn="l">
              <a:defRPr sz="1800" b="0">
                <a:solidFill>
                  <a:srgbClr val="F9FAFB"/>
                </a:solidFill>
              </a:defRPr>
            </a:pPr>
            <a:r>
              <a:rPr sz="1800" b="0">
                <a:solidFill>
                  <a:srgbClr val="F9FAFB"/>
                </a:solidFill>
              </a:rPr>
              <a:t>    llm_client=mock_llm_client,</a:t>
            </a:r>
          </a:p>
          <a:p>
            <a:pPr algn="l">
              <a:defRPr sz="1800" b="0">
                <a:solidFill>
                  <a:srgbClr val="F9FAFB"/>
                </a:solidFill>
              </a:defRPr>
            </a:pPr>
            <a:r>
              <a:rPr sz="1800" b="0">
                <a:solidFill>
                  <a:srgbClr val="F9FAFB"/>
                </a:solidFill>
              </a:rPr>
              <a:t>)</a:t>
            </a:r>
          </a:p>
          <a:p>
            <a:pPr algn="l">
              <a:defRPr sz="1800" b="0">
                <a:solidFill>
                  <a:srgbClr val="F9FAFB"/>
                </a:solidFill>
              </a:defRPr>
            </a:pPr>
            <a:r>
              <a:rPr sz="1800" b="0">
                <a:solidFill>
                  <a:srgbClr val="F9FAFB"/>
                </a:solidFill>
              </a:rPr>
              <a:t>optimization_result = optimizer.optimize(validation_messages)</a:t>
            </a:r>
          </a:p>
          <a:p>
            <a:pPr algn="l">
              <a:defRPr sz="1800" b="0">
                <a:solidFill>
                  <a:srgbClr val="F9FAFB"/>
                </a:solidFill>
              </a:defRPr>
            </a:pPr>
            <a:r>
              <a:rPr sz="1800" b="0">
                <a:solidFill>
                  <a:srgbClr val="F9FAFB"/>
                </a:solidFill>
              </a:rPr>
              <a:t>agent_result = agent.respond("这个杯子多少钱？")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096250" y="2152650"/>
            <a:ext cx="2724150" cy="2190750"/>
          </a:xfrm>
          <a:prstGeom prst="roundRect">
            <a:avLst>
              <a:gd name="adj" fmla="val 3478"/>
            </a:avLst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01050" y="24193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563EB"/>
                </a:solidFill>
              </a:defRPr>
            </a:pPr>
            <a:r>
              <a:rPr sz="2025" b="1" dirty="0" err="1">
                <a:solidFill>
                  <a:srgbClr val="2563EB"/>
                </a:solidFill>
              </a:rPr>
              <a:t>运行输出</a:t>
            </a:r>
            <a:endParaRPr sz="2025" b="1" dirty="0">
              <a:solidFill>
                <a:srgbClr val="2563EB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8420100" y="30765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648700" y="3009900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经验洞察列表</a:t>
            </a: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420100" y="34385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48700" y="3371850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策略评估排名</a:t>
            </a: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420100" y="38004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648700" y="3733800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Agent 回复</a:t>
            </a: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420100" y="416242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648700" y="4095750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自动评分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4400" y="54673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文件：live_agent_prototype.py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面向视频直播的 AI Agent 进化机制研究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原型运行结果：策略评估与示例输出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endParaRPr sz="285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165735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B6472"/>
                </a:solidFill>
              </a:defRPr>
            </a:pPr>
            <a:endParaRPr sz="1725" b="0">
              <a:solidFill>
                <a:srgbClr val="5B6472"/>
              </a:solidFill>
            </a:endParaRPr>
          </a:p>
        </p:txBody>
      </p:sp>
      <p:graphicFrame>
        <p:nvGraphicFramePr>
          <p:cNvPr id="15" name="Chart"/>
          <p:cNvGraphicFramePr/>
          <p:nvPr/>
        </p:nvGraphicFramePr>
        <p:xfrm>
          <a:off x="1028700" y="2381250"/>
          <a:ext cx="6667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8610600" y="26479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5803D"/>
                </a:solidFill>
              </a:defRPr>
            </a:pPr>
            <a:endParaRPr sz="2100" b="1">
              <a:solidFill>
                <a:srgbClr val="15803D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610600" y="3219450"/>
            <a:ext cx="2000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endParaRPr sz="1425" b="0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1001" name="补充内容10"/>
          <p:cNvSpPr txBox="1"/>
          <p:nvPr/>
        </p:nvSpPr>
        <p:spPr>
          <a:xfrm>
            <a:off x="7680435" y="1760012"/>
            <a:ext cx="4511565" cy="3222877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>
                <a:solidFill>
                  <a:schemeClr val="bg2">
                    <a:lumMod val="50000"/>
                  </a:schemeClr>
                </a:solidFill>
              </a:rPr>
              <a:t>• 验证集覆盖询价、犹豫、商品功效、活动规则、售后五类场景</a:t>
            </a:r>
          </a:p>
          <a:p>
            <a:pPr marL="0"/>
            <a:r>
              <a:rPr lang="zh-CN" dirty="0">
                <a:solidFill>
                  <a:schemeClr val="bg2">
                    <a:lumMod val="50000"/>
                  </a:schemeClr>
                </a:solidFill>
              </a:rPr>
              <a:t>• 提示词策略平均得分：conversion 0.808、baseline 0.787、concise 0.763、safety 0.630</a:t>
            </a:r>
          </a:p>
          <a:p>
            <a:pPr marL="0"/>
            <a:r>
              <a:rPr lang="zh-CN" dirty="0">
                <a:solidFill>
                  <a:schemeClr val="bg2">
                    <a:lumMod val="50000"/>
                  </a:schemeClr>
                </a:solidFill>
              </a:rPr>
              <a:t>• 最优策略：conversion，在保持合规的同时增加商品卡、优惠券、下单页等业务引导</a:t>
            </a:r>
          </a:p>
          <a:p>
            <a:pPr marL="0"/>
            <a:r>
              <a:rPr lang="zh-CN" dirty="0">
                <a:solidFill>
                  <a:schemeClr val="bg2">
                    <a:lumMod val="50000"/>
                  </a:schemeClr>
                </a:solidFill>
              </a:rPr>
              <a:t>• 示例输入：这个杯子多少钱？我主要通勤用，怕漏水。</a:t>
            </a:r>
          </a:p>
          <a:p>
            <a:pPr marL="0"/>
            <a:r>
              <a:rPr lang="zh-CN" dirty="0">
                <a:solidFill>
                  <a:schemeClr val="bg2">
                    <a:lumMod val="50000"/>
                  </a:schemeClr>
                </a:solidFill>
              </a:rPr>
              <a:t>• 示例输出：返回价格、优惠、商品卖点，并结合通勤场景进行互动追问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B32581-D782-4229-60B8-19725D8E2030}"/>
              </a:ext>
            </a:extLst>
          </p:cNvPr>
          <p:cNvSpPr txBox="1"/>
          <p:nvPr/>
        </p:nvSpPr>
        <p:spPr>
          <a:xfrm>
            <a:off x="685800" y="859735"/>
            <a:ext cx="613015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lang="zh-CN" altLang="en-US" sz="2850" b="1" dirty="0">
                <a:solidFill>
                  <a:srgbClr val="111827"/>
                </a:solidFill>
              </a:rPr>
              <a:t>离线评估示例：选择更优提示策略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8C23E3-1709-650D-3114-5C25FEDD8199}"/>
              </a:ext>
            </a:extLst>
          </p:cNvPr>
          <p:cNvSpPr txBox="1"/>
          <p:nvPr/>
        </p:nvSpPr>
        <p:spPr>
          <a:xfrm>
            <a:off x="762000" y="1679101"/>
            <a:ext cx="61301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25" b="0">
                <a:solidFill>
                  <a:srgbClr val="5B6472"/>
                </a:solidFill>
              </a:defRPr>
            </a:pPr>
            <a:r>
              <a:rPr lang="zh-CN" altLang="en-US" sz="1725" b="0" dirty="0">
                <a:solidFill>
                  <a:srgbClr val="5B6472"/>
                </a:solidFill>
              </a:rPr>
              <a:t>模拟评估中，</a:t>
            </a:r>
            <a:r>
              <a:rPr lang="en-US" altLang="zh-CN" sz="1725" b="0" dirty="0">
                <a:solidFill>
                  <a:srgbClr val="5B6472"/>
                </a:solidFill>
              </a:rPr>
              <a:t>conversion</a:t>
            </a:r>
            <a:r>
              <a:rPr lang="zh-CN" altLang="en-US" sz="1725" b="0" dirty="0">
                <a:solidFill>
                  <a:srgbClr val="5B6472"/>
                </a:solidFill>
              </a:rPr>
              <a:t> 风格在综合目标上得分最高。综合评分按百分制展示。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 dirty="0" err="1">
                <a:solidFill>
                  <a:srgbClr val="0F766E"/>
                </a:solidFill>
              </a:rPr>
              <a:t>功能测试：核心场景验证</a:t>
            </a:r>
            <a:endParaRPr sz="1200" b="1" dirty="0">
              <a:solidFill>
                <a:srgbClr val="0F766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endParaRPr sz="285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23950" y="20478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52550" y="198120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endParaRPr sz="1800" b="0">
              <a:solidFill>
                <a:srgbClr val="111827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123950" y="269557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52550" y="262890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endParaRPr sz="1800" b="0">
              <a:solidFill>
                <a:srgbClr val="111827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123950" y="3343275"/>
            <a:ext cx="95250" cy="9525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1123950" y="3990975"/>
            <a:ext cx="95250" cy="95250"/>
          </a:xfrm>
          <a:prstGeom prst="ellipse">
            <a:avLst/>
          </a:prstGeom>
          <a:solidFill>
            <a:srgbClr val="BE123C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52550" y="392430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endParaRPr sz="1800" b="0">
              <a:solidFill>
                <a:srgbClr val="11182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48250" y="55245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0F766E"/>
                </a:solidFill>
              </a:defRPr>
            </a:pPr>
            <a:endParaRPr sz="3900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1001" name="补充内容12"/>
          <p:cNvSpPr txBox="1"/>
          <p:nvPr/>
        </p:nvSpPr>
        <p:spPr>
          <a:xfrm flipV="1">
            <a:off x="700000" y="645401"/>
            <a:ext cx="7800000" cy="804599"/>
          </a:xfrm>
          <a:prstGeom prst="rect">
            <a:avLst/>
          </a:prstGeom>
          <a:noFill/>
        </p:spPr>
        <p:txBody>
          <a:bodyPr wrap="square" rtlCol="0"/>
          <a:lstStyle/>
          <a:p>
            <a:endParaRPr lang="zh-CN" sz="2100"/>
          </a:p>
          <a:p>
            <a:pPr marL="0"/>
            <a:endParaRPr lang="zh-CN" sz="2100"/>
          </a:p>
          <a:p>
            <a:pPr marL="0"/>
            <a:endParaRPr lang="zh-CN" sz="2100"/>
          </a:p>
          <a:p>
            <a:pPr marL="0"/>
            <a:endParaRPr lang="zh-CN" sz="2100"/>
          </a:p>
          <a:p>
            <a:pPr marL="0"/>
            <a:endParaRPr lang="zh-CN" sz="2100"/>
          </a:p>
        </p:txBody>
      </p:sp>
      <p:sp>
        <p:nvSpPr>
          <p:cNvPr id="1002" name="补充内容14"/>
          <p:cNvSpPr txBox="1"/>
          <p:nvPr/>
        </p:nvSpPr>
        <p:spPr>
          <a:xfrm>
            <a:off x="1219200" y="1978268"/>
            <a:ext cx="7800000" cy="564327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>
                <a:solidFill>
                  <a:srgbClr val="333333"/>
                </a:solidFill>
              </a:rPr>
              <a:t>询价：输入“这个杯子多少钱，有优惠吗？” → 返回价格、优惠券、下单页提示，通过</a:t>
            </a:r>
            <a:endParaRPr 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1D5BF88-A793-505B-837F-F744E67D7FF7}"/>
              </a:ext>
            </a:extLst>
          </p:cNvPr>
          <p:cNvSpPr txBox="1"/>
          <p:nvPr/>
        </p:nvSpPr>
        <p:spPr>
          <a:xfrm>
            <a:off x="1266825" y="52241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策略优化：四种提示词风格完成离线评分排序，通过</a:t>
            </a:r>
            <a:endParaRPr lang="zh-CN" altLang="zh-CN" sz="18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A39A72-2C83-2DB3-975A-8201C2E2C530}"/>
              </a:ext>
            </a:extLst>
          </p:cNvPr>
          <p:cNvSpPr txBox="1"/>
          <p:nvPr/>
        </p:nvSpPr>
        <p:spPr>
          <a:xfrm>
            <a:off x="1266825" y="458968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售后：输入“收到漏水可以退吗？” → 引导订单页售后，不越权承诺，通过</a:t>
            </a:r>
            <a:endParaRPr lang="zh-CN" altLang="zh-CN" sz="18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814E52-D193-A8B0-4567-84FF1B57055D}"/>
              </a:ext>
            </a:extLst>
          </p:cNvPr>
          <p:cNvSpPr txBox="1"/>
          <p:nvPr/>
        </p:nvSpPr>
        <p:spPr>
          <a:xfrm>
            <a:off x="1219200" y="38789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活动规则：输入“今晚活动券怎么领？” → 分步骤解释领券和下单页价格，通过</a:t>
            </a:r>
            <a:endParaRPr lang="zh-CN" altLang="zh-CN" sz="1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28EAC1-2540-87F7-73A7-1C971B60E104}"/>
              </a:ext>
            </a:extLst>
          </p:cNvPr>
          <p:cNvSpPr txBox="1"/>
          <p:nvPr/>
        </p:nvSpPr>
        <p:spPr>
          <a:xfrm>
            <a:off x="1219200" y="32326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商品功效：输入“能保温一整天吗？” → 不作绝对承诺，提示以详情页为准，通过</a:t>
            </a:r>
            <a:endParaRPr lang="zh-CN" altLang="zh-CN" sz="18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D85957C-B092-6119-A9DC-70D5AE7681A7}"/>
              </a:ext>
            </a:extLst>
          </p:cNvPr>
          <p:cNvSpPr txBox="1"/>
          <p:nvPr/>
        </p:nvSpPr>
        <p:spPr>
          <a:xfrm>
            <a:off x="1266825" y="25558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犹豫：输入“有点贵，我想再看看” → 先承认顾虑，再解释卖点，通过</a:t>
            </a:r>
            <a:endParaRPr lang="zh-CN" altLang="zh-CN" sz="1800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C43D63D-BB1A-97C4-F913-D8D14564EB92}"/>
              </a:ext>
            </a:extLst>
          </p:cNvPr>
          <p:cNvSpPr>
            <a:spLocks noGrp="1"/>
          </p:cNvSpPr>
          <p:nvPr/>
        </p:nvSpPr>
        <p:spPr>
          <a:xfrm>
            <a:off x="1123950" y="4718087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E871BDFB-79AD-5396-D818-8028B493FB4C}"/>
              </a:ext>
            </a:extLst>
          </p:cNvPr>
          <p:cNvSpPr>
            <a:spLocks noGrp="1"/>
          </p:cNvSpPr>
          <p:nvPr/>
        </p:nvSpPr>
        <p:spPr>
          <a:xfrm>
            <a:off x="1118366" y="5329106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业务价值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预期价值：把 Agent 变成可运营资产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047750" y="20002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2171700"/>
            <a:ext cx="1771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+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26479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平均对话轮次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714750" y="20002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924300" y="2171700"/>
            <a:ext cx="1771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+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924300" y="26479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用户停留时长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381750" y="20002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591300" y="2171700"/>
            <a:ext cx="1771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B45309"/>
                </a:solidFill>
              </a:defRPr>
            </a:pPr>
            <a:r>
              <a:rPr sz="2550" b="1">
                <a:solidFill>
                  <a:srgbClr val="B45309"/>
                </a:solidFill>
              </a:rPr>
              <a:t>+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91300" y="26479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商品点击率</a:t>
            </a: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9048750" y="20002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58300" y="2171700"/>
            <a:ext cx="1771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5803D"/>
                </a:solidFill>
              </a:defRPr>
            </a:pPr>
            <a:r>
              <a:rPr sz="2550" b="1">
                <a:solidFill>
                  <a:srgbClr val="15803D"/>
                </a:solidFill>
              </a:rPr>
              <a:t>稳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258300" y="26479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合规通过率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428750" y="3810000"/>
            <a:ext cx="9334500" cy="99060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809750" y="40957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更重要的是：策略不再只存在于运营经验里，而是被结构化沉淀为可检索、可评估、可审核、可复用的 Insight。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面向视频直播的 AI Agent 进化机制研究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项目亮点与创新点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endParaRPr sz="285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23950" y="20478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52550" y="198120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endParaRPr sz="1800" b="0">
              <a:solidFill>
                <a:srgbClr val="111827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123950" y="269557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52550" y="262890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endParaRPr sz="1800" b="0">
              <a:solidFill>
                <a:srgbClr val="111827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123950" y="3343275"/>
            <a:ext cx="95250" cy="9525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52550" y="327660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endParaRPr sz="1800" b="0">
              <a:solidFill>
                <a:srgbClr val="111827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123950" y="3990975"/>
            <a:ext cx="95250" cy="95250"/>
          </a:xfrm>
          <a:prstGeom prst="ellipse">
            <a:avLst/>
          </a:prstGeom>
          <a:solidFill>
            <a:srgbClr val="BE123C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048250" y="55245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0F766E"/>
                </a:solidFill>
              </a:defRPr>
            </a:pPr>
            <a:endParaRPr sz="3900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15</a:t>
            </a:r>
          </a:p>
        </p:txBody>
      </p:sp>
      <p:sp>
        <p:nvSpPr>
          <p:cNvPr id="1002" name="补充内容15"/>
          <p:cNvSpPr txBox="1"/>
          <p:nvPr/>
        </p:nvSpPr>
        <p:spPr>
          <a:xfrm>
            <a:off x="1392620" y="1956734"/>
            <a:ext cx="7800000" cy="47185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>
                <a:solidFill>
                  <a:srgbClr val="333333"/>
                </a:solidFill>
              </a:rPr>
              <a:t>将 ExpeL 经验学习思想应用到视频直播互动场景</a:t>
            </a:r>
            <a:endParaRPr 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119A47-7390-1F2C-6075-0090CC13059D}"/>
              </a:ext>
            </a:extLst>
          </p:cNvPr>
          <p:cNvSpPr txBox="1"/>
          <p:nvPr/>
        </p:nvSpPr>
        <p:spPr>
          <a:xfrm>
            <a:off x="1332186" y="460602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dirty="0">
                <a:solidFill>
                  <a:srgbClr val="333333"/>
                </a:solidFill>
              </a:rPr>
              <a:t>兼顾业务转化与合规安全，适合智能助播和数字人直播扩展</a:t>
            </a:r>
            <a:endParaRPr lang="zh-CN" altLang="zh-CN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1DBF92E-5C32-4F31-0F42-324FED0E626B}"/>
              </a:ext>
            </a:extLst>
          </p:cNvPr>
          <p:cNvSpPr txBox="1"/>
          <p:nvPr/>
        </p:nvSpPr>
        <p:spPr>
          <a:xfrm>
            <a:off x="1352550" y="38853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回复结果具备可解释性：输出 used_insights 和 similar_cases</a:t>
            </a:r>
            <a:endParaRPr lang="zh-CN" altLang="zh-CN" sz="18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C41510-5DA7-E033-9298-2E84F748B517}"/>
              </a:ext>
            </a:extLst>
          </p:cNvPr>
          <p:cNvSpPr txBox="1"/>
          <p:nvPr/>
        </p:nvSpPr>
        <p:spPr>
          <a:xfrm>
            <a:off x="1332187" y="32827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把直播业务指标纳入轨迹评分：停留、互动、点击、关注、风险状态</a:t>
            </a:r>
            <a:endParaRPr lang="zh-CN" altLang="zh-CN" sz="1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87C1FD6-E181-3E90-E2E8-58E7EF0C1B1D}"/>
              </a:ext>
            </a:extLst>
          </p:cNvPr>
          <p:cNvSpPr txBox="1"/>
          <p:nvPr/>
        </p:nvSpPr>
        <p:spPr>
          <a:xfrm>
            <a:off x="1392620" y="25702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zh-CN" altLang="zh-CN" sz="1800" dirty="0">
                <a:solidFill>
                  <a:srgbClr val="333333"/>
                </a:solidFill>
              </a:rPr>
              <a:t>将 PromptAgent 式提示词优化转化为可运行的原型流程</a:t>
            </a:r>
            <a:endParaRPr lang="zh-CN" altLang="zh-CN" sz="1800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E7ED2B4-78E7-A186-D68A-3DAD17331492}"/>
              </a:ext>
            </a:extLst>
          </p:cNvPr>
          <p:cNvSpPr>
            <a:spLocks noGrp="1"/>
          </p:cNvSpPr>
          <p:nvPr/>
        </p:nvSpPr>
        <p:spPr>
          <a:xfrm>
            <a:off x="1123950" y="469320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381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总结与展望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endParaRPr sz="2850" b="1">
              <a:solidFill>
                <a:srgbClr val="11182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108204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23950" y="2047875"/>
            <a:ext cx="95250" cy="952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52550" y="198120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endParaRPr sz="1800" b="0">
              <a:solidFill>
                <a:srgbClr val="111827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123950" y="269557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52550" y="262890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endParaRPr sz="1800" b="0">
              <a:solidFill>
                <a:srgbClr val="111827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123950" y="3343275"/>
            <a:ext cx="95250" cy="9525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52550" y="327660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endParaRPr sz="1800" b="0">
              <a:solidFill>
                <a:srgbClr val="111827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123950" y="3990975"/>
            <a:ext cx="95250" cy="95250"/>
          </a:xfrm>
          <a:prstGeom prst="ellipse">
            <a:avLst/>
          </a:prstGeom>
          <a:solidFill>
            <a:srgbClr val="BE123C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52550" y="392430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endParaRPr sz="1800" b="0">
              <a:solidFill>
                <a:srgbClr val="11182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48250" y="55245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0F766E"/>
                </a:solidFill>
              </a:defRPr>
            </a:pPr>
            <a:endParaRPr sz="3900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6419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0871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1001" name="补充内容12"/>
          <p:cNvSpPr txBox="1"/>
          <p:nvPr/>
        </p:nvSpPr>
        <p:spPr>
          <a:xfrm>
            <a:off x="1219200" y="1914525"/>
            <a:ext cx="7800000" cy="542926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>
                <a:solidFill>
                  <a:srgbClr val="333333"/>
                </a:solidFill>
              </a:rPr>
              <a:t>已完成面向视频直播场景的 AI Agent 原型系统设计与实现</a:t>
            </a:r>
            <a:endParaRPr lang="zh-CN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997C893-EA5D-0D78-BC42-C5499608C45E}"/>
              </a:ext>
            </a:extLst>
          </p:cNvPr>
          <p:cNvSpPr>
            <a:spLocks noGrp="1"/>
          </p:cNvSpPr>
          <p:nvPr/>
        </p:nvSpPr>
        <p:spPr>
          <a:xfrm>
            <a:off x="1123950" y="482917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9" name="补充内容12">
            <a:extLst>
              <a:ext uri="{FF2B5EF4-FFF2-40B4-BE49-F238E27FC236}">
                <a16:creationId xmlns:a16="http://schemas.microsoft.com/office/drawing/2014/main" id="{5BB27FFD-9EDA-6AB3-7154-D40BF9FD2EA8}"/>
              </a:ext>
            </a:extLst>
          </p:cNvPr>
          <p:cNvSpPr txBox="1"/>
          <p:nvPr/>
        </p:nvSpPr>
        <p:spPr>
          <a:xfrm>
            <a:off x="1219200" y="2557463"/>
            <a:ext cx="7800000" cy="762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/>
            <a:r>
              <a:rPr lang="zh-CN" dirty="0">
                <a:solidFill>
                  <a:srgbClr val="333333"/>
                </a:solidFill>
              </a:rPr>
              <a:t>系统形成“轨迹采集—经验提取—经验检索—回复生成—离线评估—策略优化”闭环</a:t>
            </a:r>
            <a:endParaRPr lang="zh-CN" dirty="0"/>
          </a:p>
        </p:txBody>
      </p:sp>
      <p:sp>
        <p:nvSpPr>
          <p:cNvPr id="21" name="补充内容12">
            <a:extLst>
              <a:ext uri="{FF2B5EF4-FFF2-40B4-BE49-F238E27FC236}">
                <a16:creationId xmlns:a16="http://schemas.microsoft.com/office/drawing/2014/main" id="{1583F86A-F86F-4020-88AF-C4ACE0645121}"/>
              </a:ext>
            </a:extLst>
          </p:cNvPr>
          <p:cNvSpPr txBox="1"/>
          <p:nvPr/>
        </p:nvSpPr>
        <p:spPr>
          <a:xfrm>
            <a:off x="1219200" y="3934405"/>
            <a:ext cx="7800000" cy="80338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/>
            <a:r>
              <a:rPr lang="zh-CN" dirty="0">
                <a:solidFill>
                  <a:srgbClr val="333333"/>
                </a:solidFill>
              </a:rPr>
              <a:t>可进一步引入向量数据库、A/B 测试指标、合规审核器和运营工作台</a:t>
            </a:r>
            <a:endParaRPr lang="zh-CN" dirty="0"/>
          </a:p>
        </p:txBody>
      </p:sp>
      <p:sp>
        <p:nvSpPr>
          <p:cNvPr id="23" name="补充内容12">
            <a:extLst>
              <a:ext uri="{FF2B5EF4-FFF2-40B4-BE49-F238E27FC236}">
                <a16:creationId xmlns:a16="http://schemas.microsoft.com/office/drawing/2014/main" id="{BD4E8ABC-72D6-C101-196F-79F94CA81852}"/>
              </a:ext>
            </a:extLst>
          </p:cNvPr>
          <p:cNvSpPr txBox="1"/>
          <p:nvPr/>
        </p:nvSpPr>
        <p:spPr>
          <a:xfrm>
            <a:off x="1219200" y="3238500"/>
            <a:ext cx="7800000" cy="62865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/>
            <a:r>
              <a:rPr lang="zh-CN" dirty="0">
                <a:solidFill>
                  <a:srgbClr val="333333"/>
                </a:solidFill>
              </a:rPr>
              <a:t>后续可接入真实直播评论流、商品库、订单页和大语言模型服务</a:t>
            </a:r>
            <a:endParaRPr lang="zh-CN" dirty="0"/>
          </a:p>
        </p:txBody>
      </p:sp>
      <p:sp>
        <p:nvSpPr>
          <p:cNvPr id="25" name="补充内容12">
            <a:extLst>
              <a:ext uri="{FF2B5EF4-FFF2-40B4-BE49-F238E27FC236}">
                <a16:creationId xmlns:a16="http://schemas.microsoft.com/office/drawing/2014/main" id="{540011A1-5CAB-DB98-6F1E-3FD805396F09}"/>
              </a:ext>
            </a:extLst>
          </p:cNvPr>
          <p:cNvSpPr txBox="1"/>
          <p:nvPr/>
        </p:nvSpPr>
        <p:spPr>
          <a:xfrm>
            <a:off x="1219200" y="4743450"/>
            <a:ext cx="7800000" cy="5715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/>
            <a:r>
              <a:rPr lang="zh-CN" dirty="0">
                <a:solidFill>
                  <a:srgbClr val="333333"/>
                </a:solidFill>
              </a:rPr>
              <a:t>项目为智能助播、数字人直播和直播运营复盘提供了可扩展基础</a:t>
            </a:r>
            <a:endParaRPr 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1120</Words>
  <Application>Microsoft Office PowerPoint</Application>
  <PresentationFormat>宽屏</PresentationFormat>
  <Paragraphs>185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2543004667@qq.com</cp:lastModifiedBy>
  <cp:revision>6</cp:revision>
  <dcterms:created xsi:type="dcterms:W3CDTF">2026-06-24T17:32:00Z</dcterms:created>
  <dcterms:modified xsi:type="dcterms:W3CDTF">2026-07-17T03:07:51Z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DCF6B0C266A6409991383714F7E9E27D_12</vt:lpwstr>
  </property>
  <property fmtid="{D5CDD505-2E9C-101B-9397-08002B2CF9AE}" pid="3" name="KSOProductBuildVer">
    <vt:lpwstr>2052-12.1.0.24034</vt:lpwstr>
  </property>
</Properties>
</file>